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084831"/>
            <a:ext cx="1371600" cy="635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0B0B0B"/>
                </a:solidFill>
                <a:latin typeface="Calibri"/>
              </a:rPr>
              <a:t>Reinforcement Learning × Cross-Sell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52044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52514E"/>
                </a:solidFill>
                <a:latin typeface="Calibri"/>
              </a:rPr>
              <a:t>Three ideas, explained from first principles: how machines learn from consequences, why selling to existing customers is our best lever, and how the two fit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898781"/>
                </a:solidFill>
                <a:latin typeface="Calibri"/>
              </a:rPr>
              <a:t>Concept deck · the logic only — no mathematics, no code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0B0B"/>
                </a:solidFill>
                <a:latin typeface="Calibri"/>
              </a:rPr>
              <a:t>Three questions, in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051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2/26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64240" cy="1298448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84F95"/>
                </a:solidFill>
                <a:latin typeface="Calibri"/>
              </a:rPr>
              <a:t>1   What is reinforcement learning?</a:t>
            </a:r>
          </a:p>
          <a:p>
            <a:r>
              <a:rPr sz="1350" b="0" i="0">
                <a:solidFill>
                  <a:srgbClr val="52514E"/>
                </a:solidFill>
                <a:latin typeface="Calibri"/>
              </a:rPr>
              <a:t>The learning loop · exploration vs. exploitation · the price of learning · why it is powerful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36392"/>
            <a:ext cx="11064240" cy="1298448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84F95"/>
                </a:solidFill>
                <a:latin typeface="Calibri"/>
              </a:rPr>
              <a:t>2   What is cross-selling?</a:t>
            </a:r>
          </a:p>
          <a:p>
            <a:r>
              <a:rPr sz="1350" b="0" i="0">
                <a:solidFill>
                  <a:srgbClr val="52514E"/>
                </a:solidFill>
                <a:latin typeface="Calibri"/>
              </a:rPr>
              <a:t>How it operates today · why it is such a strong lever · why it is hard to do well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672584"/>
            <a:ext cx="11064240" cy="1298448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84F95"/>
                </a:solidFill>
                <a:latin typeface="Calibri"/>
              </a:rPr>
              <a:t>3   How do we put RL on cross-sell?</a:t>
            </a:r>
          </a:p>
          <a:p>
            <a:r>
              <a:rPr sz="1350" b="0" i="0">
                <a:solidFill>
                  <a:srgbClr val="52514E"/>
                </a:solidFill>
                <a:latin typeface="Calibri"/>
              </a:rPr>
              <a:t>The translation · four design choices · one recommendation, step by step · how to roll it out safely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0" b="1" i="0">
                <a:solidFill>
                  <a:srgbClr val="9EC5F4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0B0B"/>
                </a:solidFill>
                <a:latin typeface="Calibri"/>
              </a:rPr>
              <a:t>Part 1 · What is reinforcement learning?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1605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—  Learning from consequences, not from an answer key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—  The six words and the one loop behind every RL system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—  Explore vs. exploit, and the measurable price of learning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—  Why it is powerful — and what it needs from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3/26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84F95"/>
                </a:solidFill>
                <a:latin typeface="Calibri"/>
              </a:rPr>
              <a:t>PART 1 · WHAT IS RL?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0B0B"/>
                </a:solidFill>
                <a:latin typeface="Calibri"/>
              </a:rPr>
              <a:t>The core idea: learning from consequences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4/26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 bIns="137160"/>
          <a:lstStyle/>
          <a:p>
            <a:pPr algn="ctr">
              <a:spcAft>
                <a:spcPts val="800"/>
              </a:spcAft>
            </a:pPr>
            <a:r>
              <a:rPr sz="1450" b="1" i="0">
                <a:solidFill>
                  <a:srgbClr val="898781"/>
                </a:solidFill>
                <a:latin typeface="Calibri"/>
              </a:rPr>
              <a:t>Most machine learning: learning from examples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52514E"/>
                </a:solidFill>
                <a:latin typeface="Calibri"/>
              </a:rPr>
              <a:t>–  Needs the right answers collected in advance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52514E"/>
                </a:solidFill>
                <a:latin typeface="Calibri"/>
              </a:rPr>
              <a:t>–  Finds patterns in what already happened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52514E"/>
                </a:solidFill>
                <a:latin typeface="Calibri"/>
              </a:rPr>
              <a:t>–  Stops improving the day training 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 bIns="137160"/>
          <a:lstStyle/>
          <a:p>
            <a:pPr algn="ctr">
              <a:spcAft>
                <a:spcPts val="800"/>
              </a:spcAft>
            </a:pPr>
            <a:r>
              <a:rPr sz="1450" b="1" i="0">
                <a:solidFill>
                  <a:srgbClr val="184F95"/>
                </a:solidFill>
                <a:latin typeface="Calibri"/>
              </a:rPr>
              <a:t>Reinforcement learning: learning from consequences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52514E"/>
                </a:solidFill>
                <a:latin typeface="Calibri"/>
              </a:rPr>
              <a:t>–  No answer key exists — it acts, then observes what happens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52514E"/>
                </a:solidFill>
                <a:latin typeface="Calibri"/>
              </a:rPr>
              <a:t>–  Discovers what works by trying, like a person gaining experience</a:t>
            </a:r>
          </a:p>
          <a:p>
            <a:pPr>
              <a:spcAft>
                <a:spcPts val="500"/>
              </a:spcAft>
            </a:pPr>
            <a:r>
              <a:rPr sz="1350" b="0" i="0">
                <a:solidFill>
                  <a:srgbClr val="52514E"/>
                </a:solidFill>
                <a:latin typeface="Calibri"/>
              </a:rPr>
              <a:t>–  Keeps improving for as long as it keeps deciding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It is how people learn anything interactive — </a:t>
            </a:r>
            <a:r>
              <a:rPr sz="1550" b="0" i="0">
                <a:solidFill>
                  <a:srgbClr val="52514E"/>
                </a:solidFill>
                <a:latin typeface="Calibri"/>
              </a:rPr>
              <a:t>a child learns chess by playing games and feeling wins and losses — not by memorising a textbook of “correct moves”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The machine version is the same idea — </a:t>
            </a:r>
            <a:r>
              <a:rPr sz="1550" b="0" i="0">
                <a:solidFill>
                  <a:srgbClr val="52514E"/>
                </a:solidFill>
                <a:latin typeface="Calibri"/>
              </a:rPr>
              <a:t>made systematic, measurable, and run at a scale no human team could match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84F95"/>
                </a:solidFill>
                <a:latin typeface="Calibri"/>
              </a:rPr>
              <a:t>PART 1 · WHAT IS RL?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0B0B"/>
                </a:solidFill>
                <a:latin typeface="Calibri"/>
              </a:rPr>
              <a:t>Six words that describe every RL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5/26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4453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4114800"/>
                <a:gridCol w="50292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anchor="ctr" marL="118872" marR="118872">
                    <a:solidFill>
                      <a:srgbClr val="184F9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Plain meaning</a:t>
                      </a:r>
                    </a:p>
                  </a:txBody>
                  <a:tcPr anchor="ctr" marL="118872" marR="118872">
                    <a:solidFill>
                      <a:srgbClr val="184F9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Everyday picture</a:t>
                      </a:r>
                    </a:p>
                  </a:txBody>
                  <a:tcPr anchor="ctr" marL="118872" marR="118872">
                    <a:solidFill>
                      <a:srgbClr val="184F9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B0B0B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anchor="ctr" marL="118872" marR="118872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2514E"/>
                          </a:solidFill>
                          <a:latin typeface="Calibri"/>
                        </a:rPr>
                        <a:t>The learner and decision-maker</a:t>
                      </a:r>
                    </a:p>
                  </a:txBody>
                  <a:tcPr anchor="ctr" marL="118872" marR="118872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2514E"/>
                          </a:solidFill>
                          <a:latin typeface="Calibri"/>
                        </a:rPr>
                        <a:t>A new salesperson on their first week</a:t>
                      </a:r>
                    </a:p>
                  </a:txBody>
                  <a:tcPr anchor="ctr" marL="118872" marR="118872">
                    <a:solidFill>
                      <a:srgbClr val="F0EFE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B0B0B"/>
                          </a:solidFill>
                          <a:latin typeface="Calibri"/>
                        </a:rPr>
                        <a:t>Environment</a:t>
                      </a:r>
                    </a:p>
                  </a:txBody>
                  <a:tcPr anchor="ctr" marL="118872" marR="1188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2514E"/>
                          </a:solidFill>
                          <a:latin typeface="Calibri"/>
                        </a:rPr>
                        <a:t>The world the agent acts in</a:t>
                      </a:r>
                    </a:p>
                  </a:txBody>
                  <a:tcPr anchor="ctr" marL="118872" marR="1188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2514E"/>
                          </a:solidFill>
                          <a:latin typeface="Calibri"/>
                        </a:rPr>
                        <a:t>The market of customers responding to offers</a:t>
                      </a:r>
                    </a:p>
                  </a:txBody>
                  <a:tcPr anchor="ctr" marL="118872" marR="11887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B0B0B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anchor="ctr" marL="118872" marR="118872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2514E"/>
                          </a:solidFill>
                          <a:latin typeface="Calibri"/>
                        </a:rPr>
                        <a:t>What the agent can see right now</a:t>
                      </a:r>
                    </a:p>
                  </a:txBody>
                  <a:tcPr anchor="ctr" marL="118872" marR="118872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2514E"/>
                          </a:solidFill>
                          <a:latin typeface="Calibri"/>
                        </a:rPr>
                        <a:t>The person standing in front of them</a:t>
                      </a:r>
                    </a:p>
                  </a:txBody>
                  <a:tcPr anchor="ctr" marL="118872" marR="118872">
                    <a:solidFill>
                      <a:srgbClr val="F0EFE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B0B0B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anchor="ctr" marL="118872" marR="1188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2514E"/>
                          </a:solidFill>
                          <a:latin typeface="Calibri"/>
                        </a:rPr>
                        <a:t>The choice it makes</a:t>
                      </a:r>
                    </a:p>
                  </a:txBody>
                  <a:tcPr anchor="ctr" marL="118872" marR="1188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2514E"/>
                          </a:solidFill>
                          <a:latin typeface="Calibri"/>
                        </a:rPr>
                        <a:t>Which product to bring up</a:t>
                      </a:r>
                    </a:p>
                  </a:txBody>
                  <a:tcPr anchor="ctr" marL="118872" marR="11887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B0B0B"/>
                          </a:solidFill>
                          <a:latin typeface="Calibri"/>
                        </a:rPr>
                        <a:t>Reward</a:t>
                      </a:r>
                    </a:p>
                  </a:txBody>
                  <a:tcPr anchor="ctr" marL="118872" marR="118872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2514E"/>
                          </a:solidFill>
                          <a:latin typeface="Calibri"/>
                        </a:rPr>
                        <a:t>The feedback score for that choice</a:t>
                      </a:r>
                    </a:p>
                  </a:txBody>
                  <a:tcPr anchor="ctr" marL="118872" marR="118872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2514E"/>
                          </a:solidFill>
                          <a:latin typeface="Calibri"/>
                        </a:rPr>
                        <a:t>Did the conversation turn into business?</a:t>
                      </a:r>
                    </a:p>
                  </a:txBody>
                  <a:tcPr anchor="ctr" marL="118872" marR="118872">
                    <a:solidFill>
                      <a:srgbClr val="F0EFE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B0B0B"/>
                          </a:solidFill>
                          <a:latin typeface="Calibri"/>
                        </a:rPr>
                        <a:t>Policy</a:t>
                      </a:r>
                    </a:p>
                  </a:txBody>
                  <a:tcPr anchor="ctr" marL="118872" marR="1188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2514E"/>
                          </a:solidFill>
                          <a:latin typeface="Calibri"/>
                        </a:rPr>
                        <a:t>Its overall strategy, revised constantly</a:t>
                      </a:r>
                    </a:p>
                  </a:txBody>
                  <a:tcPr anchor="ctr" marL="118872" marR="1188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2514E"/>
                          </a:solidFill>
                          <a:latin typeface="Calibri"/>
                        </a:rPr>
                        <a:t>The salesperson's playbook — rewritten after every meeting</a:t>
                      </a:r>
                    </a:p>
                  </a:txBody>
                  <a:tcPr anchor="ctr" marL="118872" marR="11887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84F95"/>
                </a:solidFill>
                <a:latin typeface="Calibri"/>
              </a:rPr>
              <a:t>PART 1 · WHAT IS RL?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0B0B"/>
                </a:solidFill>
                <a:latin typeface="Calibri"/>
              </a:rPr>
              <a:t>How it operates: one loop, repeated forever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6/26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2395728" cy="1600200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84F95"/>
                </a:solidFill>
                <a:latin typeface="Calibri"/>
              </a:rPr>
              <a:t>1 · Observe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Look at the situation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(the state)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81528" y="2683764"/>
            <a:ext cx="329184" cy="256032"/>
          </a:xfrm>
          <a:prstGeom prst="right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38144" y="2011680"/>
            <a:ext cx="2395728" cy="1600200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84F95"/>
                </a:solidFill>
                <a:latin typeface="Calibri"/>
              </a:rPr>
              <a:t>2 · Decide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Pick an action —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best guess so far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61304" y="2683764"/>
            <a:ext cx="329184" cy="256032"/>
          </a:xfrm>
          <a:prstGeom prst="right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2395728" cy="1600200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84F95"/>
                </a:solidFill>
                <a:latin typeface="Calibri"/>
              </a:rPr>
              <a:t>3 · Get feedback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The world responds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(the reward)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641080" y="2683764"/>
            <a:ext cx="329184" cy="256032"/>
          </a:xfrm>
          <a:prstGeom prst="right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97696" y="2011680"/>
            <a:ext cx="2395728" cy="1600200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84F95"/>
                </a:solidFill>
                <a:latin typeface="Calibri"/>
              </a:rPr>
              <a:t>4 · Update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Adjust beliefs; the next</a:t>
            </a:r>
          </a:p>
          <a:p>
            <a:pPr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decision is smarter</a:t>
            </a:r>
          </a:p>
        </p:txBody>
      </p:sp>
      <p:sp>
        <p:nvSpPr>
          <p:cNvPr id="13" name="Left Arrow 12"/>
          <p:cNvSpPr/>
          <p:nvPr/>
        </p:nvSpPr>
        <p:spPr>
          <a:xfrm>
            <a:off x="1737360" y="4023360"/>
            <a:ext cx="8778240" cy="274320"/>
          </a:xfrm>
          <a:prstGeom prst="leftArrow">
            <a:avLst/>
          </a:prstGeom>
          <a:solidFill>
            <a:srgbClr val="9EC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438912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898781"/>
                </a:solidFill>
                <a:latin typeface="Calibri"/>
              </a:rPr>
              <a:t>…and repeat, thousands of times — experience accumulates instead of evaporating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98348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0B0B0B"/>
                </a:solidFill>
                <a:latin typeface="Calibri"/>
              </a:rPr>
              <a:t>No step needs a human in it — </a:t>
            </a:r>
            <a:r>
              <a:rPr sz="1500" b="0" i="0">
                <a:solidFill>
                  <a:srgbClr val="52514E"/>
                </a:solidFill>
                <a:latin typeface="Calibri"/>
              </a:rPr>
              <a:t>the loop closes itself: acting produces the very data that improves the acting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0B0B0B"/>
                </a:solidFill>
                <a:latin typeface="Calibri"/>
              </a:rPr>
              <a:t>Contrast with today's campaign cycle — </a:t>
            </a:r>
            <a:r>
              <a:rPr sz="1500" b="0" i="0">
                <a:solidFill>
                  <a:srgbClr val="52514E"/>
                </a:solidFill>
                <a:latin typeface="Calibri"/>
              </a:rPr>
              <a:t>the same loop exists, but it turns once a quarter and the learning lives in slide decks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84F95"/>
                </a:solidFill>
                <a:latin typeface="Calibri"/>
              </a:rPr>
              <a:t>PART 1 · WHAT IS RL?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0B0B"/>
                </a:solidFill>
                <a:latin typeface="Calibri"/>
              </a:rPr>
              <a:t>The heart of RL: explore vs. exploit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7/26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40680" cy="1737360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 bIns="13716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84F95"/>
                </a:solidFill>
                <a:latin typeface="Calibri"/>
              </a:rPr>
              <a:t>Exploit</a:t>
            </a:r>
          </a:p>
          <a:p>
            <a:r>
              <a:rPr sz="1400" b="0" i="0">
                <a:solidFill>
                  <a:srgbClr val="52514E"/>
                </a:solidFill>
                <a:latin typeface="Calibri"/>
              </a:rPr>
              <a:t>Go to your favourite restaurant. Use what you already know works — harvest today's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440680" cy="1737360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 bIns="13716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84F95"/>
                </a:solidFill>
                <a:latin typeface="Calibri"/>
              </a:rPr>
              <a:t>Explore</a:t>
            </a:r>
          </a:p>
          <a:p>
            <a:r>
              <a:rPr sz="1400" b="0" i="0">
                <a:solidFill>
                  <a:srgbClr val="52514E"/>
                </a:solidFill>
                <a:latin typeface="Calibri"/>
              </a:rPr>
              <a:t>Try the new place on the corner. It might be worse — but it is the only way to ever find something better.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Doing only one of these fails — </a:t>
            </a:r>
            <a:r>
              <a:rPr sz="1550" b="0" i="0">
                <a:solidFill>
                  <a:srgbClr val="52514E"/>
                </a:solidFill>
                <a:latin typeface="Calibri"/>
              </a:rPr>
              <a:t>always exploit and you stay wrong forever; always explore and you never cash in what you learned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RL computes the balance instead of guessing it — </a:t>
            </a:r>
            <a:r>
              <a:rPr sz="1550" b="0" i="0">
                <a:solidFill>
                  <a:srgbClr val="52514E"/>
                </a:solidFill>
                <a:latin typeface="Calibri"/>
              </a:rPr>
              <a:t>unproven options carry a temporary “benefit of the doubt” that shrinks as evidence arrives — curiosity with a dial, not randomness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This is the ability rules and propensity models simply lack — </a:t>
            </a:r>
            <a:r>
              <a:rPr sz="1550" b="0" i="0">
                <a:solidFill>
                  <a:srgbClr val="52514E"/>
                </a:solidFill>
                <a:latin typeface="Calibri"/>
              </a:rPr>
              <a:t>they can only repeat what historical data already contained; they never generate new evidence about untried offers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84F95"/>
                </a:solidFill>
                <a:latin typeface="Calibri"/>
              </a:rPr>
              <a:t>PART 1 · WHAT IS RL?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0B0B"/>
                </a:solidFill>
                <a:latin typeface="Calibri"/>
              </a:rPr>
              <a:t>Learning has a price — and RL keeps the receipt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8/26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Mistakes while learning are unavoidable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any learner — human or machine — pays tuition in early wrong choices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RL names that tuition: “regret”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the gap between the value actually earned and what a perfect-hindsight decision-maker would have earned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Good methods come with a guarantee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regret grows ever more slowly: early errors fade instead of repeating, and most learning happens in the earliest interactions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Why this matters commercially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898781"/>
                </a:solidFill>
                <a:latin typeface="Calibri"/>
              </a:rPr>
              <a:t>      –  </a:t>
            </a:r>
            <a:r>
              <a:rPr sz="1450" b="0" i="0">
                <a:solidFill>
                  <a:srgbClr val="52514E"/>
                </a:solidFill>
                <a:latin typeface="Calibri"/>
              </a:rPr>
              <a:t>the cost of learning can be measured, budgeted, and capped — it is a controlled investment, not an open-ended risk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898781"/>
                </a:solidFill>
                <a:latin typeface="Calibri"/>
              </a:rPr>
              <a:t>      –  </a:t>
            </a:r>
            <a:r>
              <a:rPr sz="1450" b="0" i="0">
                <a:solidFill>
                  <a:srgbClr val="52514E"/>
                </a:solidFill>
                <a:latin typeface="Calibri"/>
              </a:rPr>
              <a:t>a learning system that tracks its own tuition is auditable in a way human intuition never 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84F95"/>
                </a:solidFill>
                <a:latin typeface="Calibri"/>
              </a:rPr>
              <a:t>PART 1 · WHAT IS RL?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0B0B"/>
                </a:solidFill>
                <a:latin typeface="Calibri"/>
              </a:rPr>
              <a:t>Why reinforcement learning is powerful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9/26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It optimises decisions, not predictions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a forecast is only useful once someone decides what to do with it — RL goes straight to the decision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It needs no answer key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it manufactures its own training data by acting — invaluable where “the right offer” is unknowable in advance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It adapts by construction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when customers, products or seasons shift, the feedback shifts, and the strategy follows automatically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It compounds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every interaction anywhere improves decisions everywhere; experience is pooled with perfect memory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It is proven at scale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the engine behind game-champion AIs, and behind recommendation and next-best-offer systems across tech, e-commerce and financial services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84F95"/>
                </a:solidFill>
                <a:latin typeface="Calibri"/>
              </a:rPr>
              <a:t>PART 1 · WHAT IS RL?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0B0B"/>
                </a:solidFill>
                <a:latin typeface="Calibri"/>
              </a:rPr>
              <a:t>What RL needs from us to succeed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10/26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A feedback signal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some observable outcome per decision — a purchase, a decline, a lapse. No feedback, no learning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Enough decisions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learning speed scales with interaction volume; thousands of offers a month is plenty, ten a month is not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Room to explore, safely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a small, controlled share of non-obvious recommendations — inside rules we set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Stable measurement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knowing which outcome followed which decision (attribution) — usually the hardest requirement in practice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Honest scope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RL finds the best decisions the data supports; it cannot conjure signal that isn't there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0" b="1" i="0">
                <a:solidFill>
                  <a:srgbClr val="9EC5F4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0B0B"/>
                </a:solidFill>
                <a:latin typeface="Calibri"/>
              </a:rPr>
              <a:t>Part 2 · What is cross-selling?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1605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—  What it is — and how it differs from upselling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—  How it operates today, step by step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—  Why it is such a strong lever — and why it is hard to do well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—  The shape of the problem, seen with fresh eyes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11/26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84F95"/>
                </a:solidFill>
                <a:latin typeface="Calibri"/>
              </a:rPr>
              <a:t>PART 2 · WHAT IS CROSS-SELL?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0B0B"/>
                </a:solidFill>
                <a:latin typeface="Calibri"/>
              </a:rPr>
              <a:t>What cross-selling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12/26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Selling an additional, different product to an existing customer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the medical-plan holder who adds a savings plan; the term-life customer who adds critical-illness cover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Different from upselling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upselling upgrades the same product (higher cover, richer rider); cross-selling broadens the relationship into a new need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In insurance it follows life, not campaigns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marriage, children, a first flat, a health scare, approaching retirement — each life stage opens a genuine new need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The ideal end-state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one customer, many needs met, one trusted provider — a portfolio, not a policy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84F95"/>
                </a:solidFill>
                <a:latin typeface="Calibri"/>
              </a:rPr>
              <a:t>PART 2 · WHAT IS CROSS-SELL?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0B0B"/>
                </a:solidFill>
                <a:latin typeface="Calibri"/>
              </a:rPr>
              <a:t>How cross-sell operates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13/26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2395728" cy="1463040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84F95"/>
                </a:solidFill>
                <a:latin typeface="Calibri"/>
              </a:rPr>
              <a:t>Spot the moment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renewal, claim settled,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life event, campaign window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81528" y="2203704"/>
            <a:ext cx="329184" cy="256032"/>
          </a:xfrm>
          <a:prstGeom prst="right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38144" y="1600200"/>
            <a:ext cx="2395728" cy="1463040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84F95"/>
                </a:solidFill>
                <a:latin typeface="Calibri"/>
              </a:rPr>
              <a:t>Choose the audience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segments or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propensity scores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61304" y="2203704"/>
            <a:ext cx="329184" cy="256032"/>
          </a:xfrm>
          <a:prstGeom prst="right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2395728" cy="1463040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84F95"/>
                </a:solidFill>
                <a:latin typeface="Calibri"/>
              </a:rPr>
              <a:t>Make the offer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via agent, bank partner,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broker or app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641080" y="2203704"/>
            <a:ext cx="329184" cy="256032"/>
          </a:xfrm>
          <a:prstGeom prst="right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97696" y="1600200"/>
            <a:ext cx="2395728" cy="1463040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84F95"/>
                </a:solidFill>
                <a:latin typeface="Calibri"/>
              </a:rPr>
              <a:t>Measure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conversions counted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weeks later, in aggregate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The loop exists — but it turns slowly — </a:t>
            </a:r>
            <a:r>
              <a:rPr sz="1550" b="0" i="0">
                <a:solidFill>
                  <a:srgbClr val="52514E"/>
                </a:solidFill>
                <a:latin typeface="Calibri"/>
              </a:rPr>
              <a:t>a full cycle takes a quarter, and what was learned rarely flows back into the next targeting automatically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And it learns coarsely — </a:t>
            </a:r>
            <a:r>
              <a:rPr sz="1550" b="0" i="0">
                <a:solidFill>
                  <a:srgbClr val="52514E"/>
                </a:solidFill>
                <a:latin typeface="Calibri"/>
              </a:rPr>
              <a:t>results arrive per campaign, not per customer — “segment B converted at 4%” teaches little about the individual sitting in front of an agent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Everyone in one segment gets the same offer — </a:t>
            </a:r>
            <a:r>
              <a:rPr sz="1550" b="0" i="0">
                <a:solidFill>
                  <a:srgbClr val="52514E"/>
                </a:solidFill>
                <a:latin typeface="Calibri"/>
              </a:rPr>
              <a:t>personalisation stops at the segment boundary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84F95"/>
                </a:solidFill>
                <a:latin typeface="Calibri"/>
              </a:rPr>
              <a:t>PART 2 · WHAT IS CROSS-SELL?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0B0B"/>
                </a:solidFill>
                <a:latin typeface="Calibri"/>
              </a:rPr>
              <a:t>Why cross-sell is such a strong lever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14/26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The customer is already acquired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no acquisition spend, no cold start — the most expensive part of the sale is already paid for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Trust is already established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an existing relationship shortcuts the hardest part of any insurance conversation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We already know them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holdings, payment history, claims, channel habits — an information advantage no competitor has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It compounds into retention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customers holding several products lapse far less; every good cross-sell also protects the value already on the books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It is repeatable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each life stage re-opens the door — done well, one customer generates a sequence of right conversations over decades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84F95"/>
                </a:solidFill>
                <a:latin typeface="Calibri"/>
              </a:rPr>
              <a:t>PART 2 · WHAT IS CROSS-SELL?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0B0B"/>
                </a:solidFill>
                <a:latin typeface="Calibri"/>
              </a:rPr>
              <a:t>Why it is hard to do well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15/26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Three things must line up at once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the right product, for the right customer, at the right moment — miss any one and the offer is noise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Attention is a scarce budget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every irrelevant offer spends goodwill, contact quota and agent time — and makes the next offer easier to ignore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Products are not equal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an accident add-on and a whole-life plan differ enormously in premium and in value of new business — volume targets and value targets pull in different directions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Suitability and compliance bound everything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some products must never be offered to some customers, whatever a model thinks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Cause and effect blur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did the campaign create that sale, or did the agent — or would it have happened anyway? Without attribution, nobody truly knows what works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84F95"/>
                </a:solidFill>
                <a:latin typeface="Calibri"/>
              </a:rPr>
              <a:t>PART 2 · WHAT IS CROSS-SELL?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0B0B"/>
                </a:solidFill>
                <a:latin typeface="Calibri"/>
              </a:rPr>
              <a:t>Look at the shape of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16/26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Cross-sell is a repeated decision under uncertainty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thousands of times a month: observe a customer, choose an offer, watch the outcome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Each decision generates its own feedback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accepted or ignored — evidence that today is collected slowly and used loosely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That is precisely the shape RL was built for — </a:t>
            </a:r>
            <a:r>
              <a:rPr sz="1600" b="0" i="0">
                <a:solidFill>
                  <a:srgbClr val="52514E"/>
                </a:solidFill>
                <a:latin typeface="Calibri"/>
              </a:rPr>
              <a:t>observe → decide → feedback → improve, per customer, per decision, continuously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ctr"/>
            <a:r>
              <a:rPr sz="1700" b="1" i="1">
                <a:solidFill>
                  <a:srgbClr val="184F95"/>
                </a:solidFill>
                <a:latin typeface="Calibri"/>
              </a:rPr>
              <a:t>Cross-sell already runs the reinforcement-learning loop — just slowly, coarsely, and by hand. Part 3 is about closing that loop properly.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0" b="1" i="0">
                <a:solidFill>
                  <a:srgbClr val="9EC5F4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B0B0B"/>
                </a:solidFill>
                <a:latin typeface="Calibri"/>
              </a:rPr>
              <a:t>Part 3 · Putting RL onto cross-sell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1605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—  The translation: agent, state, action, reward, policy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—  Four design choices: the decision, the success measure, the knowledge, the method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—  One recommendation, step by step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—  Rolling it out safely — and where this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17/26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84F95"/>
                </a:solidFill>
                <a:latin typeface="Calibri"/>
              </a:rPr>
              <a:t>PART 3 · RL ON CROSS-SELL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0B0B"/>
                </a:solidFill>
                <a:latin typeface="Calibri"/>
              </a:rPr>
              <a:t>The translation, term by term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18/26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4160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91440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RL concept</a:t>
                      </a:r>
                    </a:p>
                  </a:txBody>
                  <a:tcPr anchor="ctr" marL="118872" marR="118872">
                    <a:solidFill>
                      <a:srgbClr val="184F9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In cross-sell, this becomes…</a:t>
                      </a:r>
                    </a:p>
                  </a:txBody>
                  <a:tcPr anchor="ctr" marL="118872" marR="118872">
                    <a:solidFill>
                      <a:srgbClr val="184F9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B0B0B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anchor="ctr" marL="118872" marR="118872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2514E"/>
                          </a:solidFill>
                          <a:latin typeface="Calibri"/>
                        </a:rPr>
                        <a:t>The recommendation engine advising every offer decision</a:t>
                      </a:r>
                    </a:p>
                  </a:txBody>
                  <a:tcPr anchor="ctr" marL="118872" marR="118872">
                    <a:solidFill>
                      <a:srgbClr val="F0EFE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B0B0B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anchor="ctr" marL="118872" marR="1188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2514E"/>
                          </a:solidFill>
                          <a:latin typeface="Calibri"/>
                        </a:rPr>
                        <a:t>Everything known about the customer at that moment: profile, holdings, recent activity, engagement, channel</a:t>
                      </a:r>
                    </a:p>
                  </a:txBody>
                  <a:tcPr anchor="ctr" marL="118872" marR="11887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B0B0B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anchor="ctr" marL="118872" marR="118872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2514E"/>
                          </a:solidFill>
                          <a:latin typeface="Calibri"/>
                        </a:rPr>
                        <a:t>Which product category to recommend — accident, medical, saving, term life, whole life, investment, annuity, …</a:t>
                      </a:r>
                    </a:p>
                  </a:txBody>
                  <a:tcPr anchor="ctr" marL="118872" marR="118872">
                    <a:solidFill>
                      <a:srgbClr val="F0EFE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B0B0B"/>
                          </a:solidFill>
                          <a:latin typeface="Calibri"/>
                        </a:rPr>
                        <a:t>Reward</a:t>
                      </a:r>
                    </a:p>
                  </a:txBody>
                  <a:tcPr anchor="ctr" marL="118872" marR="1188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2514E"/>
                          </a:solidFill>
                          <a:latin typeface="Calibri"/>
                        </a:rPr>
                        <a:t>The value the offer created: a sale, its premium, or its value of new business</a:t>
                      </a:r>
                    </a:p>
                  </a:txBody>
                  <a:tcPr anchor="ctr" marL="118872" marR="11887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0B0B0B"/>
                          </a:solidFill>
                          <a:latin typeface="Calibri"/>
                        </a:rPr>
                        <a:t>Policy</a:t>
                      </a:r>
                    </a:p>
                  </a:txBody>
                  <a:tcPr anchor="ctr" marL="118872" marR="118872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2514E"/>
                          </a:solidFill>
                          <a:latin typeface="Calibri"/>
                        </a:rPr>
                        <a:t>The house strategy for who should hear about what — continuously rewritten by results</a:t>
                      </a:r>
                    </a:p>
                  </a:txBody>
                  <a:tcPr anchor="ctr" marL="118872" marR="118872">
                    <a:solidFill>
                      <a:srgbClr val="F0EF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898781"/>
                </a:solidFill>
                <a:latin typeface="Calibri"/>
              </a:rPr>
              <a:t>Business and compliance rules are not part of the learning: they filter the options before the engine ever chooses.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84F95"/>
                </a:solidFill>
                <a:latin typeface="Calibri"/>
              </a:rPr>
              <a:t>PART 3 · RL ON CROSS-SELL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0B0B"/>
                </a:solidFill>
                <a:latin typeface="Calibri"/>
              </a:rPr>
              <a:t>Design choice 1 · What should the engine decide?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19/26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 bIns="137160"/>
          <a:lstStyle/>
          <a:p>
            <a:pPr algn="ctr">
              <a:spcAft>
                <a:spcPts val="800"/>
              </a:spcAft>
            </a:pPr>
            <a:r>
              <a:rPr sz="1550" b="1" i="0">
                <a:solidFill>
                  <a:srgbClr val="184F95"/>
                </a:solidFill>
                <a:latin typeface="Calibri"/>
              </a:rPr>
              <a:t>A · Which product</a:t>
            </a:r>
          </a:p>
          <a:p>
            <a:r>
              <a:rPr sz="1300" b="0" i="0">
                <a:solidFill>
                  <a:srgbClr val="52514E"/>
                </a:solidFill>
                <a:latin typeface="Calibri"/>
              </a:rPr>
              <a:t>Given a customer, pick the one product category to recommend. Small, clear decision space — fastest to learn, easiest to trust.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1148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START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6002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 bIns="137160"/>
          <a:lstStyle/>
          <a:p>
            <a:pPr algn="ctr">
              <a:spcAft>
                <a:spcPts val="800"/>
              </a:spcAft>
            </a:pPr>
            <a:r>
              <a:rPr sz="1550" b="1" i="0">
                <a:solidFill>
                  <a:srgbClr val="184F95"/>
                </a:solidFill>
                <a:latin typeface="Calibri"/>
              </a:rPr>
              <a:t>B · Whether to contact at all</a:t>
            </a:r>
          </a:p>
          <a:p>
            <a:r>
              <a:rPr sz="1300" b="0" i="0">
                <a:solidFill>
                  <a:srgbClr val="52514E"/>
                </a:solidFill>
                <a:latin typeface="Calibri"/>
              </a:rPr>
              <a:t>Add a “stay silent” option, so the engine also learns when no offer is the best offer — protects contact budgets.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16002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37160" bIns="137160"/>
          <a:lstStyle/>
          <a:p>
            <a:pPr algn="ctr">
              <a:spcAft>
                <a:spcPts val="800"/>
              </a:spcAft>
            </a:pPr>
            <a:r>
              <a:rPr sz="1550" b="1" i="0">
                <a:solidFill>
                  <a:srgbClr val="184F95"/>
                </a:solidFill>
                <a:latin typeface="Calibri"/>
              </a:rPr>
              <a:t>C · Product + channel + timing</a:t>
            </a:r>
          </a:p>
          <a:p>
            <a:r>
              <a:rPr sz="1300" b="0" i="0">
                <a:solidFill>
                  <a:srgbClr val="52514E"/>
                </a:solidFill>
                <a:latin typeface="Calibri"/>
              </a:rPr>
              <a:t>Also choose how and when the offer is delivered. Most realistic, but the option count multiplies and learning slows.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0B0B0B"/>
                </a:solidFill>
                <a:latin typeface="Calibri"/>
              </a:rPr>
              <a:t>The logic of starting with A — </a:t>
            </a:r>
            <a:r>
              <a:rPr sz="1500" b="0" i="0">
                <a:solidFill>
                  <a:srgbClr val="52514E"/>
                </a:solidFill>
                <a:latin typeface="Calibri"/>
              </a:rPr>
              <a:t>master the smallest real decision first; B and C are natural extensions once A demonstrably works — each added dimension multiplies how much evidence is needed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84F95"/>
                </a:solidFill>
                <a:latin typeface="Calibri"/>
              </a:rPr>
              <a:t>PART 3 · RL ON CROSS-SELL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0B0B"/>
                </a:solidFill>
                <a:latin typeface="Calibri"/>
              </a:rPr>
              <a:t>Design choice 2 · What should count as success?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20/26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Conversion — </a:t>
            </a:r>
            <a:r>
              <a:rPr sz="1550" b="0" i="0">
                <a:solidFill>
                  <a:srgbClr val="52514E"/>
                </a:solidFill>
                <a:latin typeface="Calibri"/>
              </a:rPr>
              <a:t>a sale counts 1, no sale counts 0 — simplest signal, fastest learning, but treats a small add-on like a flagship policy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Premium volume (APE) — </a:t>
            </a:r>
            <a:r>
              <a:rPr sz="1550" b="0" i="0">
                <a:solidFill>
                  <a:srgbClr val="52514E"/>
                </a:solidFill>
                <a:latin typeface="Calibri"/>
              </a:rPr>
              <a:t>reward equals the annualised premium — matches how sales are often measured, but a premium dollar is not a profit dollar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Business value (VNB) — </a:t>
            </a:r>
            <a:r>
              <a:rPr sz="1550" b="0" i="0">
                <a:solidFill>
                  <a:srgbClr val="52514E"/>
                </a:solidFill>
                <a:latin typeface="Calibri"/>
              </a:rPr>
              <a:t>reward equals the value of new business — economically the right target: the engine favours what the company actually earns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Long-term value — </a:t>
            </a:r>
            <a:r>
              <a:rPr sz="1550" b="0" i="0">
                <a:solidFill>
                  <a:srgbClr val="52514E"/>
                </a:solidFill>
                <a:latin typeface="Calibri"/>
              </a:rPr>
              <a:t>later, subtract lapses and add retention effects — needs multi-step RL and outcome history, so it is a stage-two reward, not a starting 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ctr"/>
            <a:r>
              <a:rPr sz="1350" b="1" i="0">
                <a:solidFill>
                  <a:srgbClr val="184F95"/>
                </a:solidFill>
                <a:latin typeface="Calibri"/>
              </a:rPr>
              <a:t>The prerequisite for any of these:  </a:t>
            </a:r>
            <a:r>
              <a:rPr sz="1350" b="0" i="0">
                <a:solidFill>
                  <a:srgbClr val="52514E"/>
                </a:solidFill>
                <a:latin typeface="Calibri"/>
              </a:rPr>
              <a:t>attribution — the ability to link a purchase to the offer that preceded it. Without it, no reward can be observed and nothing can be learned from reality.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84F95"/>
                </a:solidFill>
                <a:latin typeface="Calibri"/>
              </a:rPr>
              <a:t>PART 3 · RL ON CROSS-SELL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0B0B"/>
                </a:solidFill>
                <a:latin typeface="Calibri"/>
              </a:rPr>
              <a:t>Design choice 3 · What should the engine know?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21/26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1. Profile &amp; wealth segment — </a:t>
            </a:r>
            <a:r>
              <a:rPr sz="1550" b="0" i="0">
                <a:solidFill>
                  <a:srgbClr val="52514E"/>
                </a:solidFill>
                <a:latin typeface="Calibri"/>
              </a:rPr>
              <a:t>age, life stage, income band, wealth tier — who the customer is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2. Holdings — </a:t>
            </a:r>
            <a:r>
              <a:rPr sz="1550" b="0" i="0">
                <a:solidFill>
                  <a:srgbClr val="52514E"/>
                </a:solidFill>
                <a:latin typeface="Calibri"/>
              </a:rPr>
              <a:t>what they own and what it is worth — every next offer builds on the current portfolio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3. Momentum — </a:t>
            </a:r>
            <a:r>
              <a:rPr sz="1550" b="0" i="0">
                <a:solidFill>
                  <a:srgbClr val="52514E"/>
                </a:solidFill>
                <a:latin typeface="Calibri"/>
              </a:rPr>
              <a:t>purchases, lapses, surrenders across recent windows (1/3/6/12 months) — is the relationship warming or cooling?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4. Channel &amp; delivery — </a:t>
            </a:r>
            <a:r>
              <a:rPr sz="1550" b="0" i="0">
                <a:solidFill>
                  <a:srgbClr val="52514E"/>
                </a:solidFill>
                <a:latin typeface="Calibri"/>
              </a:rPr>
              <a:t>how the customer buys — and when a human delivers the offer, that agent's quality matters too (and is irrelevant for direct digital channels)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5. Coverage gaps — </a:t>
            </a:r>
            <a:r>
              <a:rPr sz="1550" b="0" i="0">
                <a:solidFill>
                  <a:srgbClr val="52514E"/>
                </a:solidFill>
                <a:latin typeface="Calibri"/>
              </a:rPr>
              <a:t>what similar customers typically hold that this one doesn't — the “next logical product” signal, computed against each customer's peer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898781"/>
                </a:solidFill>
                <a:latin typeface="Calibri"/>
              </a:rPr>
              <a:t>Richer knowledge means sharper personalisation — but only if the signals are real. Each pillar can be switched on or off and tested for what it adds.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84F95"/>
                </a:solidFill>
                <a:latin typeface="Calibri"/>
              </a:rPr>
              <a:t>PART 3 · RL ON CROSS-SELL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0B0B"/>
                </a:solidFill>
                <a:latin typeface="Calibri"/>
              </a:rPr>
              <a:t>Design choice 4 · Which kind of RL?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22/26</a:t>
            </a:r>
          </a:p>
        </p:txBody>
      </p:sp>
      <p:sp>
        <p:nvSpPr>
          <p:cNvPr id="6" name="Pentagon 5"/>
          <p:cNvSpPr/>
          <p:nvPr/>
        </p:nvSpPr>
        <p:spPr>
          <a:xfrm>
            <a:off x="640080" y="1737360"/>
            <a:ext cx="2852928" cy="1143000"/>
          </a:xfrm>
          <a:prstGeom prst="homePlate">
            <a:avLst/>
          </a:prstGeom>
          <a:solidFill>
            <a:srgbClr val="6DA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B0B0B"/>
                </a:solidFill>
                <a:latin typeface="Calibri"/>
              </a:rPr>
              <a:t>Static rules</a:t>
            </a:r>
          </a:p>
          <a:p>
            <a:r>
              <a:rPr sz="1100" b="0" i="0">
                <a:solidFill>
                  <a:srgbClr val="52514E"/>
                </a:solidFill>
                <a:latin typeface="Calibri"/>
              </a:rPr>
              <a:t>hand-written</a:t>
            </a:r>
          </a:p>
          <a:p>
            <a:r>
              <a:rPr sz="1100" b="0" i="0">
                <a:solidFill>
                  <a:srgbClr val="52514E"/>
                </a:solidFill>
                <a:latin typeface="Calibri"/>
              </a:rPr>
              <a:t>segments</a:t>
            </a:r>
          </a:p>
        </p:txBody>
      </p:sp>
      <p:sp>
        <p:nvSpPr>
          <p:cNvPr id="7" name="Chevron 6"/>
          <p:cNvSpPr/>
          <p:nvPr/>
        </p:nvSpPr>
        <p:spPr>
          <a:xfrm>
            <a:off x="3346704" y="1737360"/>
            <a:ext cx="2852928" cy="1143000"/>
          </a:xfrm>
          <a:prstGeom prst="chevron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Propensity models</a:t>
            </a:r>
          </a:p>
          <a:p>
            <a:r>
              <a:rPr sz="1100" b="0" i="0">
                <a:solidFill>
                  <a:srgbClr val="FFFFFF"/>
                </a:solidFill>
                <a:latin typeface="Calibri"/>
              </a:rPr>
              <a:t>predict, rank,</a:t>
            </a:r>
          </a:p>
          <a:p>
            <a:r>
              <a:rPr sz="1100" b="0" i="0">
                <a:solidFill>
                  <a:srgbClr val="FFFFFF"/>
                </a:solidFill>
                <a:latin typeface="Calibri"/>
              </a:rPr>
              <a:t>campaign</a:t>
            </a:r>
          </a:p>
        </p:txBody>
      </p:sp>
      <p:sp>
        <p:nvSpPr>
          <p:cNvPr id="8" name="Chevron 7"/>
          <p:cNvSpPr/>
          <p:nvPr/>
        </p:nvSpPr>
        <p:spPr>
          <a:xfrm>
            <a:off x="6053328" y="1737360"/>
            <a:ext cx="2852928" cy="1143000"/>
          </a:xfrm>
          <a:prstGeom prst="chevron">
            <a:avLst/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Contextual bandit</a:t>
            </a:r>
          </a:p>
          <a:p>
            <a:r>
              <a:rPr sz="1100" b="0" i="0">
                <a:solidFill>
                  <a:srgbClr val="FFFFFF"/>
                </a:solidFill>
                <a:latin typeface="Calibri"/>
              </a:rPr>
              <a:t>single-step RL:</a:t>
            </a:r>
          </a:p>
          <a:p>
            <a:r>
              <a:rPr sz="1100" b="0" i="0">
                <a:solidFill>
                  <a:srgbClr val="FFFFFF"/>
                </a:solidFill>
                <a:latin typeface="Calibri"/>
              </a:rPr>
              <a:t>learn offer-by-offer</a:t>
            </a:r>
          </a:p>
        </p:txBody>
      </p:sp>
      <p:sp>
        <p:nvSpPr>
          <p:cNvPr id="9" name="Chevron 8"/>
          <p:cNvSpPr/>
          <p:nvPr/>
        </p:nvSpPr>
        <p:spPr>
          <a:xfrm>
            <a:off x="8759952" y="1737360"/>
            <a:ext cx="2852928" cy="1143000"/>
          </a:xfrm>
          <a:prstGeom prst="chevron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Sequential RL</a:t>
            </a:r>
          </a:p>
          <a:p>
            <a:r>
              <a:rPr sz="1100" b="0" i="0">
                <a:solidFill>
                  <a:srgbClr val="FFFFFF"/>
                </a:solidFill>
                <a:latin typeface="Calibri"/>
              </a:rPr>
              <a:t>optimise whole journeys</a:t>
            </a:r>
          </a:p>
          <a:p>
            <a:r>
              <a:rPr sz="1100" b="0" i="0">
                <a:solidFill>
                  <a:srgbClr val="FFFFFF"/>
                </a:solidFill>
                <a:latin typeface="Calibri"/>
              </a:rPr>
              <a:t>and lifetime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06324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START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0B0B0B"/>
                </a:solidFill>
                <a:latin typeface="Calibri"/>
              </a:rPr>
              <a:t>Why the contextual bandit rung — </a:t>
            </a:r>
            <a:r>
              <a:rPr sz="1500" b="0" i="0">
                <a:solidFill>
                  <a:srgbClr val="52514E"/>
                </a:solidFill>
                <a:latin typeface="Calibri"/>
              </a:rPr>
              <a:t>it is full RL logic — context, exploration, feedback, regret — applied to one decision at a time; the proven industry entry point for next-best-offer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0B0B0B"/>
                </a:solidFill>
                <a:latin typeface="Calibri"/>
              </a:rPr>
              <a:t>Why not jump to sequential RL — </a:t>
            </a:r>
            <a:r>
              <a:rPr sz="1500" b="0" i="0">
                <a:solidFill>
                  <a:srgbClr val="52514E"/>
                </a:solidFill>
                <a:latin typeface="Calibri"/>
              </a:rPr>
              <a:t>journey-level optimisation needs far more data and trust; it is the destination, not the doorway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0B0B0B"/>
                </a:solidFill>
                <a:latin typeface="Calibri"/>
              </a:rPr>
              <a:t>Two ways to train either rung — </a:t>
            </a:r>
            <a:r>
              <a:rPr sz="1500" b="0" i="0">
                <a:solidFill>
                  <a:srgbClr val="52514E"/>
                </a:solidFill>
                <a:latin typeface="Calibri"/>
              </a:rPr>
              <a:t>learn live from ongoing offers, or learn offline by replaying historical offer logs — most programmes combine both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84F95"/>
                </a:solidFill>
                <a:latin typeface="Calibri"/>
              </a:rPr>
              <a:t>PART 3 · RL ON CROSS-SELL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0B0B"/>
                </a:solidFill>
                <a:latin typeface="Calibri"/>
              </a:rPr>
              <a:t>One recommendation, 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23/26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1. Take one customer — </a:t>
            </a:r>
            <a:r>
              <a:rPr sz="1550" b="0" i="0">
                <a:solidFill>
                  <a:srgbClr val="52514E"/>
                </a:solidFill>
                <a:latin typeface="Calibri"/>
              </a:rPr>
              <a:t>list only the products they are eligible for — rules and suitability filter first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2. Estimate each option's value — </a:t>
            </a:r>
            <a:r>
              <a:rPr sz="1550" b="0" i="0">
                <a:solidFill>
                  <a:srgbClr val="52514E"/>
                </a:solidFill>
                <a:latin typeface="Calibri"/>
              </a:rPr>
              <a:t>from everything learned so far about customers who looked similar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3. Add the benefit of the doubt — </a:t>
            </a:r>
            <a:r>
              <a:rPr sz="1550" b="0" i="0">
                <a:solidFill>
                  <a:srgbClr val="52514E"/>
                </a:solidFill>
                <a:latin typeface="Calibri"/>
              </a:rPr>
              <a:t>options with little evidence get a temporary bonus — exploration, made precise and capped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4. Recommend the top-scoring product — </a:t>
            </a:r>
            <a:r>
              <a:rPr sz="1550" b="0" i="0">
                <a:solidFill>
                  <a:srgbClr val="52514E"/>
                </a:solidFill>
                <a:latin typeface="Calibri"/>
              </a:rPr>
              <a:t>one clear choice, with its estimated value and uncertainty attached — explainable by design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5. Record the outcome — </a:t>
            </a:r>
            <a:r>
              <a:rPr sz="1550" b="0" i="0">
                <a:solidFill>
                  <a:srgbClr val="52514E"/>
                </a:solidFill>
                <a:latin typeface="Calibri"/>
              </a:rPr>
              <a:t>accepted or not, the result updates the engine, and every future customer benefits from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ctr"/>
            <a:r>
              <a:rPr sz="1350" b="1" i="0">
                <a:solidFill>
                  <a:srgbClr val="0B0B0B"/>
                </a:solidFill>
                <a:latin typeface="Calibri"/>
              </a:rPr>
              <a:t>Because success is value-weighted:  </a:t>
            </a:r>
            <a:r>
              <a:rPr sz="1350" b="0" i="0">
                <a:solidFill>
                  <a:srgbClr val="52514E"/>
                </a:solidFill>
                <a:latin typeface="Calibri"/>
              </a:rPr>
              <a:t>the engine prefers one right whole-life conversation over three easy, low-value sales — it optimises what the business earns, not activity.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84F95"/>
                </a:solidFill>
                <a:latin typeface="Calibri"/>
              </a:rPr>
              <a:t>PART 3 · RL ON CROSS-SELL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0B0B"/>
                </a:solidFill>
                <a:latin typeface="Calibri"/>
              </a:rPr>
              <a:t>Implementing it safely: an evidence ladder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24/26</a:t>
            </a:r>
          </a:p>
        </p:txBody>
      </p:sp>
      <p:sp>
        <p:nvSpPr>
          <p:cNvPr id="6" name="Pentagon 5"/>
          <p:cNvSpPr/>
          <p:nvPr/>
        </p:nvSpPr>
        <p:spPr>
          <a:xfrm>
            <a:off x="548640" y="1645920"/>
            <a:ext cx="2304288" cy="868680"/>
          </a:xfrm>
          <a:prstGeom prst="homePlate">
            <a:avLst/>
          </a:prstGeom>
          <a:solidFill>
            <a:srgbClr val="9EC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0B0B0B"/>
                </a:solidFill>
                <a:latin typeface="Calibri"/>
              </a:rPr>
              <a:t>1 · Simulation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2121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84F95"/>
                </a:solidFill>
                <a:latin typeface="Calibri"/>
              </a:rPr>
              <a:t>prove the machinery on realistic synthetic customers — zero risk</a:t>
            </a:r>
          </a:p>
        </p:txBody>
      </p:sp>
      <p:sp>
        <p:nvSpPr>
          <p:cNvPr id="8" name="Chevron 7"/>
          <p:cNvSpPr/>
          <p:nvPr/>
        </p:nvSpPr>
        <p:spPr>
          <a:xfrm>
            <a:off x="2724912" y="1645920"/>
            <a:ext cx="2304288" cy="868680"/>
          </a:xfrm>
          <a:prstGeom prst="chevron">
            <a:avLst/>
          </a:prstGeom>
          <a:solidFill>
            <a:srgbClr val="6DA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0B0B0B"/>
                </a:solidFill>
                <a:latin typeface="Calibri"/>
              </a:rPr>
              <a:t>2 · Real customer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9504" y="2651760"/>
            <a:ext cx="2121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2514E"/>
                </a:solidFill>
                <a:latin typeface="Calibri"/>
              </a:rPr>
              <a:t>same engine, production customer records — responses still simulated</a:t>
            </a:r>
          </a:p>
        </p:txBody>
      </p:sp>
      <p:sp>
        <p:nvSpPr>
          <p:cNvPr id="10" name="Chevron 9"/>
          <p:cNvSpPr/>
          <p:nvPr/>
        </p:nvSpPr>
        <p:spPr>
          <a:xfrm>
            <a:off x="4901184" y="1645920"/>
            <a:ext cx="2304288" cy="868680"/>
          </a:xfrm>
          <a:prstGeom prst="chevron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3 · Historical replay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5776" y="2651760"/>
            <a:ext cx="2121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2514E"/>
                </a:solidFill>
                <a:latin typeface="Calibri"/>
              </a:rPr>
              <a:t>score strategies against past offer outcomes without contacting anyone</a:t>
            </a:r>
          </a:p>
        </p:txBody>
      </p:sp>
      <p:sp>
        <p:nvSpPr>
          <p:cNvPr id="12" name="Chevron 11"/>
          <p:cNvSpPr/>
          <p:nvPr/>
        </p:nvSpPr>
        <p:spPr>
          <a:xfrm>
            <a:off x="7077456" y="1645920"/>
            <a:ext cx="2304288" cy="868680"/>
          </a:xfrm>
          <a:prstGeom prst="chevron">
            <a:avLst/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4 · Randomised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2651760"/>
            <a:ext cx="2121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2514E"/>
                </a:solidFill>
                <a:latin typeface="Calibri"/>
              </a:rPr>
              <a:t>small, capped live test — the first real evidence</a:t>
            </a:r>
          </a:p>
        </p:txBody>
      </p:sp>
      <p:sp>
        <p:nvSpPr>
          <p:cNvPr id="14" name="Chevron 13"/>
          <p:cNvSpPr/>
          <p:nvPr/>
        </p:nvSpPr>
        <p:spPr>
          <a:xfrm>
            <a:off x="9253728" y="1645920"/>
            <a:ext cx="2304288" cy="868680"/>
          </a:xfrm>
          <a:prstGeom prst="chevron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5 · Live A/B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651760"/>
            <a:ext cx="2121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2514E"/>
                </a:solidFill>
                <a:latin typeface="Calibri"/>
              </a:rPr>
              <a:t>engine vs. current practice — the only proof of business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0B0B0B"/>
                </a:solidFill>
                <a:latin typeface="Calibri"/>
              </a:rPr>
              <a:t>Standing guardrails at every stage — </a:t>
            </a:r>
            <a:r>
              <a:rPr sz="1500" b="0" i="0">
                <a:solidFill>
                  <a:srgbClr val="52514E"/>
                </a:solidFill>
                <a:latin typeface="Calibri"/>
              </a:rPr>
              <a:t>compliance filters ahead of the engine · exploration share capped · contact-fatigue limits outside the learning loop · every recommendation auditable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0B0B0B"/>
                </a:solidFill>
                <a:latin typeface="Calibri"/>
              </a:rPr>
              <a:t>Each rung de-risks the next — </a:t>
            </a:r>
            <a:r>
              <a:rPr sz="1500" b="0" i="0">
                <a:solidFill>
                  <a:srgbClr val="52514E"/>
                </a:solidFill>
                <a:latin typeface="Calibri"/>
              </a:rPr>
              <a:t>no customer is contacted before stage 4, and stages 3–5 each carry a go/no-go review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84F95"/>
                </a:solidFill>
                <a:latin typeface="Calibri"/>
              </a:rPr>
              <a:t>PART 3 · RL ON CROSS-SELL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0B0B"/>
                </a:solidFill>
                <a:latin typeface="Calibri"/>
              </a:rPr>
              <a:t>Where this stands today (stage 1 complete)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51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25/26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394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0B0B0B"/>
                </a:solidFill>
                <a:latin typeface="Calibri"/>
              </a:rPr>
              <a:t>A working engine, end to end — </a:t>
            </a:r>
            <a:r>
              <a:rPr sz="1450" b="0" i="0">
                <a:solidFill>
                  <a:srgbClr val="52514E"/>
                </a:solidFill>
                <a:latin typeface="Calibri"/>
              </a:rPr>
              <a:t>customers in, recommendations out, learning verified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0B0B0B"/>
                </a:solidFill>
                <a:latin typeface="Calibri"/>
              </a:rPr>
              <a:t>≈ 88% of the theoretical best — </a:t>
            </a:r>
            <a:r>
              <a:rPr sz="1450" b="0" i="0">
                <a:solidFill>
                  <a:srgbClr val="52514E"/>
                </a:solidFill>
                <a:latin typeface="Calibri"/>
              </a:rPr>
              <a:t>in its simulated market, the engine approaches the maximum achievable value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0B0B0B"/>
                </a:solidFill>
                <a:latin typeface="Calibri"/>
              </a:rPr>
              <a:t>+129% vs. untargeted offers — </a:t>
            </a:r>
            <a:r>
              <a:rPr sz="1450" b="0" i="0">
                <a:solidFill>
                  <a:srgbClr val="52514E"/>
                </a:solidFill>
                <a:latin typeface="Calibri"/>
              </a:rPr>
              <a:t>personalised decisions more than double the value of offering at random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0B0B0B"/>
                </a:solidFill>
                <a:latin typeface="Calibri"/>
              </a:rPr>
              <a:t>+25% from richer knowledge — </a:t>
            </a:r>
            <a:r>
              <a:rPr sz="1450" b="0" i="0">
                <a:solidFill>
                  <a:srgbClr val="52514E"/>
                </a:solidFill>
                <a:latin typeface="Calibri"/>
              </a:rPr>
              <a:t>adding momentum and coverage-gap signals beat a profile-only setup by a quarter</a:t>
            </a:r>
          </a:p>
        </p:txBody>
      </p:sp>
      <p:pic>
        <p:nvPicPr>
          <p:cNvPr id="7" name="Picture 6" descr="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5577840" cy="232038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120640"/>
            <a:ext cx="11064240" cy="1143000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ctr"/>
            <a:r>
              <a:rPr sz="1350" b="1" i="0">
                <a:solidFill>
                  <a:srgbClr val="184F95"/>
                </a:solidFill>
                <a:latin typeface="Calibri"/>
              </a:rPr>
              <a:t>Honest caveat:  </a:t>
            </a:r>
            <a:r>
              <a:rPr sz="1350" b="0" i="0">
                <a:solidFill>
                  <a:srgbClr val="52514E"/>
                </a:solidFill>
                <a:latin typeface="Calibri"/>
              </a:rPr>
              <a:t>these customers are simulated. The results prove the engine learns and that richer information pays off — real customer behaviour is exactly what stages 2–5 exist to measure. Next unlocks: offer-to-purchase attribution, historical offer logs, true value figures per product.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B0B0B"/>
                </a:solidFill>
                <a:latin typeface="Calibri"/>
              </a:rPr>
              <a:t>Three ideas to leave with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051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98781"/>
                </a:solidFill>
                <a:latin typeface="Calibri"/>
              </a:rPr>
              <a:t>Reinforcement learning × cross-sell · concept deck · 26/26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64240" cy="1298448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84F95"/>
                </a:solidFill>
                <a:latin typeface="Calibri"/>
              </a:rPr>
              <a:t>1   RL is learning from consequences</a:t>
            </a:r>
          </a:p>
          <a:p>
            <a:r>
              <a:rPr sz="1300" b="0" i="0">
                <a:solidFill>
                  <a:srgbClr val="52514E"/>
                </a:solidFill>
                <a:latin typeface="Calibri"/>
              </a:rPr>
              <a:t>a loop of observe → decide → feedback → improve, with exploration as its engine and regret as its measured, cappable cost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36392"/>
            <a:ext cx="11064240" cy="1298448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84F95"/>
                </a:solidFill>
                <a:latin typeface="Calibri"/>
              </a:rPr>
              <a:t>2   Cross-sell is our highest-leverage repeated decision</a:t>
            </a:r>
          </a:p>
          <a:p>
            <a:r>
              <a:rPr sz="1300" b="0" i="0">
                <a:solidFill>
                  <a:srgbClr val="52514E"/>
                </a:solidFill>
                <a:latin typeface="Calibri"/>
              </a:rPr>
              <a:t>already-won trust, an information advantage, and retention compounding — held back only by slow, coarse, one-size targeting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672584"/>
            <a:ext cx="11064240" cy="1298448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84F95"/>
                </a:solidFill>
                <a:latin typeface="Calibri"/>
              </a:rPr>
              <a:t>3   Together: a loop that finally closes itself</a:t>
            </a:r>
          </a:p>
          <a:p>
            <a:r>
              <a:rPr sz="1300" b="0" i="0">
                <a:solidFill>
                  <a:srgbClr val="52514E"/>
                </a:solidFill>
                <a:latin typeface="Calibri"/>
              </a:rPr>
              <a:t>every offer teaches the next one; proven in simulation, and one data unlock — attribution — away from learning on reality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